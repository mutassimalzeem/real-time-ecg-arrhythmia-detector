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91695" cy="0"/>
          </a:xfrm>
          <a:prstGeom prst="line">
            <a:avLst/>
          </a:prstGeom>
          <a:noFill/>
          <a:ln w="12700">
            <a:solidFill>
              <a:srgbClr val="134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92040"/>
            <a:ext cx="1463040" cy="9144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2011680" y="4160520"/>
            <a:ext cx="274320" cy="731520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4160520"/>
            <a:ext cx="274320" cy="1417320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560320" y="4892040"/>
            <a:ext cx="274320" cy="685800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4892040"/>
            <a:ext cx="1371600" cy="9144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4206240" y="4343400"/>
            <a:ext cx="274320" cy="548640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4343400"/>
            <a:ext cx="274320" cy="1051560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754880" y="4892040"/>
            <a:ext cx="274320" cy="502920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4892040"/>
            <a:ext cx="6858000" cy="9144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640080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13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008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 4407 · RANDOM SIGNALS AND PROCESSES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ECG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Arrhythmia Detector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the human heartbeat as a stochastic process — and catching the moment it stops behaving like one.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University of Technology (IUT)  ·  MATLAB  ·  MIT-BIH Arrhythmia Database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healthy heartbeat isn't a metronome — but it isn't noise either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heartbeat is timed slightly differently: breathing, posture, and the autonomic nervous system all add natural variability. Somewhere between “perfectly regular” and “random” sits the real signature of a healthy heart. The question this project answers is deceptively simple: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2461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“Given a stream of heartbeats, how do we rigorously and automatically decide — with a stated level of confidence — that one of them is abnormal?”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“rigorously” is the whole project. It's the difference between eyeballing a plot and applying the statistical machinery of EEE 4407 to a real, physiological data stream.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155448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0B3D4C"/>
          </a:solidFill>
          <a:ln/>
        </p:spPr>
      </p:sp>
      <p:sp>
        <p:nvSpPr>
          <p:cNvPr id="9" name="Text 7"/>
          <p:cNvSpPr/>
          <p:nvPr/>
        </p:nvSpPr>
        <p:spPr>
          <a:xfrm>
            <a:off x="7178040" y="162763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 Hz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0" y="1554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sampling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269748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0B3D4C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277063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2,274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144000" y="2697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R-peaks detected (Patient 100)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384048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0B3D4C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391363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44000" y="3840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Confidence-interval decision boundary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498348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0B3D4C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505663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2-state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44000" y="4983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chain: Normal ↔ Arrhythmia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statistical moves, one detector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502920" cy="54864"/>
          </a:xfrm>
          <a:prstGeom prst="round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R-R interval sequence as a Wide Sense Stationary (WSS) random process, and verify it empirically.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617720" y="2697480"/>
            <a:ext cx="502920" cy="54864"/>
          </a:xfrm>
          <a:prstGeom prst="roundRect">
            <a:avLst/>
          </a:prstGeom>
          <a:solidFill>
            <a:srgbClr val="0B3D4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its mean, variance, and probability density — then build a 95% confidence interval around “normal.”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8412480" y="2697480"/>
            <a:ext cx="502920" cy="54864"/>
          </a:xfrm>
          <a:prstGeom prst="roundRect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880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2480" y="342900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new beat with H₀ vs. H₁, and track state transitions with a Markov chain instead of judging beats alone.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checkpointed phases, one MATLAB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0B3D4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1762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A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25603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37947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MIT-BIH record, visualize raw signal &amp; noise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25603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34640" y="21031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0B3D4C"/>
          </a:solidFill>
          <a:ln/>
        </p:spPr>
      </p:sp>
      <p:sp>
        <p:nvSpPr>
          <p:cNvPr id="10" name="Text 8"/>
          <p:cNvSpPr/>
          <p:nvPr/>
        </p:nvSpPr>
        <p:spPr>
          <a:xfrm>
            <a:off x="2944368" y="21762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A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44368" y="25603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Detection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44368" y="37947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Bandpass filter (5–15 Hz) + R-peak detection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25603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0" y="21031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0B3D4C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21762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A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30368" y="25603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30368" y="37947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fit, point estimates, WSS verification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86600" y="25603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06640" y="21031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7516368" y="21762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A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16368" y="25603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16368" y="37947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H₀/H₁ decision + Markov transition matrix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72600" y="25603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92640" y="21031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9802368" y="21762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A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802368" y="256032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802368" y="37947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visualization &amp; alerting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1663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loads the previous phase's saved .mat checkpoint, does one clearly scoped job, and saves its own output for the next stage — so the pipeline can be re-run from any point without recomputing everything upstream.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waveform to a clean R-R interval sequence</a:t>
            </a:r>
            <a:endParaRPr lang="en-US" sz="2800" dirty="0"/>
          </a:p>
        </p:txBody>
      </p:sp>
      <p:pic>
        <p:nvPicPr>
          <p:cNvPr id="4" name="Image 0" descr="/home/claude/repo/assets/figures/phase2_rpeak_det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554480"/>
            <a:ext cx="5349240" cy="38903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00200"/>
            <a:ext cx="54864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Patient 100, dual-lead (MLII, V5), 360 Hz — loaded via readtable and inspected for noise structure.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Bandpass Filtering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2nd-order Butterworth, 5–15 Hz, applied with filtfilt for zero-phase response — preserves exact R-peak timing.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R-Peak Detection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findpeaks with a 108-sample minimum spacing (~200 bpm ceiling) and prominence set to 15% of the signal's own amplitude range.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what “normal” looks like, statistically</a:t>
            </a:r>
            <a:endParaRPr lang="en-US" sz="2800" dirty="0"/>
          </a:p>
        </p:txBody>
      </p:sp>
      <p:pic>
        <p:nvPicPr>
          <p:cNvPr id="4" name="Image 0" descr="/home/claude/repo/assets/figures/phase3_pdf_esti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4864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55080" y="1600200"/>
            <a:ext cx="525780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Estimation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mean μ̂ ≈ 794 ms and standard deviation σ̂ ≈ 49.5 ms computed directly from the R-R sequence.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Estimation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histogram fit against a theoretical Gaussian via normfit — the model every future beat gets compared against.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Verification (two independent tests)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mean stability across 10 segments, and a normalized autocorrelation check against the white-noise confidence band.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2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acceptance region carried forward into Phase 4's decision rule.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Deciding, and remembering the decision</a:t>
            </a:r>
            <a:endParaRPr lang="en-US" sz="2800" dirty="0"/>
          </a:p>
        </p:txBody>
      </p:sp>
      <p:pic>
        <p:nvPicPr>
          <p:cNvPr id="4" name="Image 0" descr="/home/claude/repo/assets/figures/phase4_hypothesis_marko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508760"/>
            <a:ext cx="7315200" cy="4501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37033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vs. H₁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(normal) when a beat falls outside μ_train ± 1.96·σ_train.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synthetic arrhythmias injected into the held-out test split — all 3 correctly flagged.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</a:t>
            </a:r>
            <a:endParaRPr lang="en-US" sz="125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2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2×2 transition matrix distinguishes a one-off blip from a sustained abnormal state.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live, interactive demo — not just a static plot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0E2C36"/>
          </a:solidFill>
          <a:ln w="12700">
            <a:solidFill>
              <a:srgbClr val="134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ECG Arrhythmia Detector | EEE 4407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10424160" cy="1965960"/>
          </a:xfrm>
          <a:prstGeom prst="rect">
            <a:avLst/>
          </a:prstGeom>
          <a:solidFill>
            <a:srgbClr val="0B3D4C"/>
          </a:solidFill>
          <a:ln w="12700">
            <a:solidFill>
              <a:srgbClr val="1E5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R-R Interval Stream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033272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14400" y="3794760"/>
            <a:ext cx="1033272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14400" y="3246120"/>
            <a:ext cx="10332720" cy="0"/>
          </a:xfrm>
          <a:prstGeom prst="line">
            <a:avLst/>
          </a:prstGeom>
          <a:noFill/>
          <a:ln w="12700">
            <a:solidFill>
              <a:srgbClr val="CFE7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2834640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4560" y="3154680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3154680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2834640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3429000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3154680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Shape 15"/>
          <p:cNvSpPr/>
          <p:nvPr/>
        </p:nvSpPr>
        <p:spPr>
          <a:xfrm>
            <a:off x="5760720" y="2834640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3154680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3429000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0" y="2834640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5360" y="3154680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3154680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0" y="2834640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4434840"/>
            <a:ext cx="10424160" cy="1234440"/>
          </a:xfrm>
          <a:prstGeom prst="rect">
            <a:avLst/>
          </a:prstGeom>
          <a:solidFill>
            <a:srgbClr val="123844"/>
          </a:solidFill>
          <a:ln w="12700">
            <a:solidFill>
              <a:srgbClr val="1E5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4988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 DASHBOARD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97280" y="484632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1554480" y="4828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SINUS RHYTHM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4846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R-R Interval: 812 ms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20640" y="5166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Normal (H₀ Accepted)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12480" y="48280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Mean: 795.9 ms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[703, 888] ms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779008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7790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 Real-Time Simulation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749040" y="577900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</p:sp>
      <p:sp>
        <p:nvSpPr>
          <p:cNvPr id="34" name="Text 32"/>
          <p:cNvSpPr/>
          <p:nvPr/>
        </p:nvSpPr>
        <p:spPr>
          <a:xfrm>
            <a:off x="3749040" y="57790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Simulation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recreation of the MATLAB App Designer interface (phase5_realtime_gui.m) — streams beats live at ~20/sec with real-time state updates.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on MIT-BIH Patient 100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0B3D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2,274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R-peaks detected across a 30-minute strip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0B3D4C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1874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794 ms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61188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R-R interval (σ ≈ 49.5 ms)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0B3D4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[703, 888] ms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acceptance band (training split)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89720" y="1691640"/>
            <a:ext cx="2697480" cy="1691640"/>
          </a:xfrm>
          <a:prstGeom prst="roundRect">
            <a:avLst>
              <a:gd name="adj" fmla="val 4865"/>
            </a:avLst>
          </a:prstGeom>
          <a:solidFill>
            <a:srgbClr val="0B3D4C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1874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37260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synthetic arrhythmias correctly flagged</a:t>
            </a:r>
            <a:endParaRPr lang="en-US" sz="1050" dirty="0"/>
          </a:p>
        </p:txBody>
      </p:sp>
      <p:pic>
        <p:nvPicPr>
          <p:cNvPr id="16" name="Image 0" descr="/home/claude/repo/assets/figures/phase3_wss_m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03320"/>
            <a:ext cx="5394960" cy="2697480"/>
          </a:xfrm>
          <a:prstGeom prst="rect">
            <a:avLst/>
          </a:prstGeom>
        </p:spPr>
      </p:pic>
      <p:pic>
        <p:nvPicPr>
          <p:cNvPr id="17" name="Image 1" descr="/home/claude/repo/assets/figures/phase3_autocorre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703320"/>
            <a:ext cx="5394960" cy="2697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" y="55321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Test 1: windowed mean stability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72200" y="55321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Test 2: autocorrelation within noise bounds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MAPPING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stage is a named EEE 4407 concept, applied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846320"/>
        </p:xfrm>
        <a:graphic>
          <a:graphicData uri="http://schemas.openxmlformats.org/drawingml/2006/table">
            <a:tbl>
              <a:tblPr/>
              <a:tblGrid>
                <a:gridCol w="2834640"/>
                <a:gridCol w="4297680"/>
                <a:gridCol w="39319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It's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ECG as a signal changing over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R-R interval sequence (Phase 2–3)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Sense Stationarity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stable, healthy behavior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Windowed mean + autocorrelation tests (Phase 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Estimation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distribution of R-R intervals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 + normfit (Phase 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normal heartbeat interval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mean(rr) baseline (Phase 3–4)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heartbeat variability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var(rr), std(rr) (Phase 3–4)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Intervals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the acceptable range for normal beats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as decision boundary (Phase 3–4)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Accept/reject a beat as 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H₀ vs. H₁ threshold rule (Phase 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Markov Chains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rhythm evolution over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2×2 transition matrix P (Phase 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leads, one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749040"/>
          </a:xfrm>
          <a:prstGeom prst="roundRect">
            <a:avLst>
              <a:gd name="adj" fmla="val 2278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26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Processing Lead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ingestion, noise filtering, and QRS / R-peak detection accuracy.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611880" cy="3749040"/>
          </a:xfrm>
          <a:prstGeom prst="roundRect">
            <a:avLst>
              <a:gd name="adj" fmla="val 2278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148840"/>
            <a:ext cx="594360" cy="594360"/>
          </a:xfrm>
          <a:prstGeom prst="ellipse">
            <a:avLst/>
          </a:prstGeom>
          <a:solidFill>
            <a:srgbClr val="0B3D4C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926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Process &amp; Math Lead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17720" y="37947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estimation, expected value &amp; confidence intervals, Markov transition matrices.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611880" cy="3749040"/>
          </a:xfrm>
          <a:prstGeom prst="roundRect">
            <a:avLst>
              <a:gd name="adj" fmla="val 2278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14884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926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Testing &amp; Integration Lead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12480" y="37947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algorithms, detection evaluation, and the real-time MATLAB GUI.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— EEE 4407: Random Signals and Processes, Islamic University of Technology (IUT)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living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54864" cy="1014984"/>
          </a:xfrm>
          <a:prstGeom prst="round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against ground truth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detector against MIT-BIH's official beat annotations (precision / recall / F1).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892808"/>
            <a:ext cx="54864" cy="1014984"/>
          </a:xfrm>
          <a:prstGeom prst="round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Multi-state Markov chain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binary Normal/Arrhythmia to PVC, Bradycardia, Tachycardia, Fibrillation-like states.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447288"/>
            <a:ext cx="54864" cy="1014984"/>
          </a:xfrm>
          <a:prstGeom prst="round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83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thresholds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3749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fixed training-split CI with a rolling or online estimator.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3368" y="3447288"/>
            <a:ext cx="54864" cy="1014984"/>
          </a:xfrm>
          <a:prstGeom prst="round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383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comparison baseline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83680" y="3749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the statistical approach against an SVM / 1D-CNN classifier.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001768"/>
            <a:ext cx="54864" cy="1014984"/>
          </a:xfrm>
          <a:prstGeom prst="roundRect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937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hardware input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0120" y="5303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from an AD8232 + Arduino/ESP32 front-end for a truly real-time system.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48006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3368" y="5001768"/>
            <a:ext cx="54864" cy="1014984"/>
          </a:xfrm>
          <a:prstGeom prst="round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937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Standalone deployable app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83680" y="5303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55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Phase 5 as a compiled MATLAB App for one-click demos.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you can hear a heartbeat in.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ECG Arrhythmia Detector  ·  EEE 4407: Random Signals and Processes  ·  IUT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2026-07-29T02:24:27Z</dcterms:created>
  <dcterms:modified xsi:type="dcterms:W3CDTF">2026-07-29T02:24:27Z</dcterms:modified>
</cp:coreProperties>
</file>